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0AE"/>
    <a:srgbClr val="83A0BE"/>
    <a:srgbClr val="7691AA"/>
    <a:srgbClr val="DECEEF"/>
    <a:srgbClr val="9542D6"/>
    <a:srgbClr val="F6C6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>
        <p:scale>
          <a:sx n="128" d="100"/>
          <a:sy n="128" d="100"/>
        </p:scale>
        <p:origin x="10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D6D1-AD8A-56BA-5ABC-8FC1F9E7E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7E56C-2A99-F2C9-E04F-1C8A266C7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39434-7F7F-293A-8E35-16B724FF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761B-1703-37FC-DD8F-17365178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5ABA1-DAE0-2F1A-DE94-7E3F9708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5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E9B9-7150-8495-53BD-BD4F6CA3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9517-5DF1-0A45-5289-C66A8240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DE8E5-4DC4-6F9D-9990-4C91D361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8AF84-DBEF-9E03-A815-20DEF5E2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F58B-9506-4F29-8FDB-6DB8AFFD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0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15EB-2CB9-EC25-4464-DA79714C3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B34E7-E8BA-A4B2-9AC6-D7A62DABA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0DBC1-3942-AB52-8490-D8AA9C59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0BEEB-6FCB-724B-4D87-0E193232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805B8-82C4-6C7E-EFAD-D1B7DF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AD2F-47B8-16C5-1FCA-E03E7912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240A-6DED-6F2C-3775-B34B05102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7481E-B371-DE1A-BFF3-FF48862C8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462AB-51A1-7819-629A-3CCED57C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EC42E-7F66-CB05-2AD2-5A25D8CE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59A01-209F-D42B-63F1-B996476B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0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5B8F-CB78-7314-C3C8-ACA300C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A5ECD-8E9E-FF03-EF4B-D55B3D023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C92EA-101C-49AF-0621-DE0D700F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64832-D6E4-522B-3CDE-3D969A54A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97619-858B-9466-5A26-35ACC26D1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BFD2C-AA38-00D5-A87C-FCFF752B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1A120-5986-BCEB-F2DF-BF0E2F47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79883-9769-5EB3-D98B-73A7F2FC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5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DD7C-AA00-114A-CCB9-A727B63B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DB27A-7124-665D-37D8-1B76A4B8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8C727-5B3C-50F1-F213-ACC68663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D5B75-2467-5779-514C-FA95B4E3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6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A128E-6633-181F-E3BD-234A035F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110B0-C02F-4143-22A3-17A1E287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37B8-4502-B0D1-EAEB-CC6A7DDB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8E45-5301-C884-C483-7DDCA6B8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51E2D-34F6-CCAD-AB30-D3710947D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5316C-895F-B198-E8A7-1F4BE55DE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C0F5B-4449-4C61-C4DD-FF0448E1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49210-6FB0-34A8-61E3-6A412E8FD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AEC27-4850-8735-2655-9A22A779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0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37CE-AA37-B27A-75ED-E64D3AFF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B9C14-2656-7DD4-FD5A-73D381057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6BA26-14EF-0245-1356-56AA2BFDE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0CA41-D408-3080-E5BD-C47BF0C1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1090C-C8B6-7EFD-928B-7A137F64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7DD18-E9CF-01FC-6BAC-91AB17AF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8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D94-13E8-2B5F-4CAD-DD3504C2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7CDBA-5DED-1207-AF02-9055DBD42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B370-60DD-1FA9-2FE6-E9C23C3E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81EC-F761-94F3-8E55-59E70539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2C60B-4AC3-99DB-D7F3-B130ABA1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2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BC569-CA25-F479-0A23-B82A7BDD0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C9DE5-C67B-F7B2-F207-AAD870B43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4DF3-41D3-33D7-1F93-CA81A1CA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56FE-30CF-5210-395E-D5867CFB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95F1F-E1B4-1FD0-A7C6-863B4D8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6E87B-7504-45F6-1C15-CD256099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EE441-930D-F5BB-E23A-02A511ED1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2609F-4C5D-F87F-FBB3-2F5216A04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BC458-32E1-8649-BB98-1AEBC9727A0C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05A2-6FCD-4DC0-EE2F-2BDC2E398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EA1F-A52E-0940-C2F8-A62E8CB14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3DCC0-61F6-874D-BF7A-75419C8B0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74FC-00FD-6074-8A3A-6518079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F3C7954-A7C4-A880-73E3-4B016E761CBC}"/>
              </a:ext>
            </a:extLst>
          </p:cNvPr>
          <p:cNvGrpSpPr/>
          <p:nvPr/>
        </p:nvGrpSpPr>
        <p:grpSpPr>
          <a:xfrm>
            <a:off x="3496340" y="1063256"/>
            <a:ext cx="5128437" cy="5160335"/>
            <a:chOff x="3634564" y="1084521"/>
            <a:chExt cx="5128437" cy="516033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0E565C-189C-C83E-EAD1-B756268EC199}"/>
                </a:ext>
              </a:extLst>
            </p:cNvPr>
            <p:cNvSpPr/>
            <p:nvPr/>
          </p:nvSpPr>
          <p:spPr>
            <a:xfrm>
              <a:off x="3780500" y="1245260"/>
              <a:ext cx="4706471" cy="443752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CC0114E-A981-33B8-B901-9F857C4A535D}"/>
                </a:ext>
              </a:extLst>
            </p:cNvPr>
            <p:cNvCxnSpPr/>
            <p:nvPr/>
          </p:nvCxnSpPr>
          <p:spPr>
            <a:xfrm>
              <a:off x="5337544" y="108452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656FE54-313A-5A81-1232-C3D612A3834F}"/>
                </a:ext>
              </a:extLst>
            </p:cNvPr>
            <p:cNvCxnSpPr/>
            <p:nvPr/>
          </p:nvCxnSpPr>
          <p:spPr>
            <a:xfrm>
              <a:off x="6893442" y="11518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1B35F96-CA44-664D-D213-D25BA2D65D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81062" y="2374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0A574F-5E57-0394-4043-D800496E5D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16504" y="1665768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75F2F2CF-EBE4-6DE5-9DFF-83E2FA71F32D}"/>
              </a:ext>
            </a:extLst>
          </p:cNvPr>
          <p:cNvSpPr/>
          <p:nvPr/>
        </p:nvSpPr>
        <p:spPr>
          <a:xfrm>
            <a:off x="5208103" y="2785591"/>
            <a:ext cx="1520687" cy="1388844"/>
          </a:xfrm>
          <a:prstGeom prst="rect">
            <a:avLst/>
          </a:prstGeom>
          <a:solidFill>
            <a:srgbClr val="83A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FDCB6-FFC8-3E0C-0C3B-828AA840EFDE}"/>
              </a:ext>
            </a:extLst>
          </p:cNvPr>
          <p:cNvSpPr txBox="1"/>
          <p:nvPr/>
        </p:nvSpPr>
        <p:spPr>
          <a:xfrm>
            <a:off x="659219" y="1573619"/>
            <a:ext cx="124816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6C6AE"/>
                </a:solidFill>
              </a:rPr>
              <a:t>Fibroblast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2E067E-5832-0FCF-E6CD-27B1B5BAA1B7}"/>
              </a:ext>
            </a:extLst>
          </p:cNvPr>
          <p:cNvSpPr txBox="1"/>
          <p:nvPr/>
        </p:nvSpPr>
        <p:spPr>
          <a:xfrm>
            <a:off x="726559" y="2268279"/>
            <a:ext cx="105586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TGFbeta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954BC2-EBCF-48B5-731B-6AC9A175A90D}"/>
              </a:ext>
            </a:extLst>
          </p:cNvPr>
          <p:cNvSpPr txBox="1"/>
          <p:nvPr/>
        </p:nvSpPr>
        <p:spPr>
          <a:xfrm>
            <a:off x="378823" y="404949"/>
            <a:ext cx="115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Fibroblasts can uptake </a:t>
            </a:r>
            <a:r>
              <a:rPr lang="en-US" dirty="0" err="1"/>
              <a:t>TGFbeta</a:t>
            </a:r>
            <a:r>
              <a:rPr lang="en-US" dirty="0"/>
              <a:t> from their local patches, which reduces the concentration of </a:t>
            </a:r>
            <a:r>
              <a:rPr lang="en-US" dirty="0" err="1"/>
              <a:t>TGFbeta</a:t>
            </a:r>
            <a:r>
              <a:rPr lang="en-US" dirty="0"/>
              <a:t> in that patch</a:t>
            </a:r>
          </a:p>
          <a:p>
            <a:r>
              <a:rPr lang="en-US" dirty="0"/>
              <a:t>and increases the concentration of </a:t>
            </a:r>
            <a:r>
              <a:rPr lang="en-US" dirty="0" err="1"/>
              <a:t>TGFbeta</a:t>
            </a:r>
            <a:r>
              <a:rPr lang="en-US" dirty="0"/>
              <a:t> in the cell.</a:t>
            </a:r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F9D1C082-1A72-7C83-CFCC-21DD6EB85A27}"/>
              </a:ext>
            </a:extLst>
          </p:cNvPr>
          <p:cNvSpPr/>
          <p:nvPr/>
        </p:nvSpPr>
        <p:spPr>
          <a:xfrm>
            <a:off x="5677786" y="3019646"/>
            <a:ext cx="595424" cy="925033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D0A4E31-6CBB-BA6F-5A12-B06E92F4A594}"/>
              </a:ext>
            </a:extLst>
          </p:cNvPr>
          <p:cNvSpPr/>
          <p:nvPr/>
        </p:nvSpPr>
        <p:spPr>
          <a:xfrm rot="20960561">
            <a:off x="5997704" y="3484217"/>
            <a:ext cx="87345" cy="94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D5249A2-950F-D732-D865-A31436651B7E}"/>
              </a:ext>
            </a:extLst>
          </p:cNvPr>
          <p:cNvSpPr/>
          <p:nvPr/>
        </p:nvSpPr>
        <p:spPr>
          <a:xfrm rot="1148383" flipH="1">
            <a:off x="6069618" y="3270508"/>
            <a:ext cx="519216" cy="565511"/>
          </a:xfrm>
          <a:prstGeom prst="arc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1AA25C-98C1-C5E7-A597-9C494D17586E}"/>
              </a:ext>
            </a:extLst>
          </p:cNvPr>
          <p:cNvSpPr/>
          <p:nvPr/>
        </p:nvSpPr>
        <p:spPr>
          <a:xfrm rot="20960561">
            <a:off x="6446006" y="3287672"/>
            <a:ext cx="87345" cy="94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8B9E91-3BA6-3242-2BF7-98D3331A07CA}"/>
              </a:ext>
            </a:extLst>
          </p:cNvPr>
          <p:cNvSpPr txBox="1"/>
          <p:nvPr/>
        </p:nvSpPr>
        <p:spPr>
          <a:xfrm>
            <a:off x="8527775" y="3011557"/>
            <a:ext cx="2276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790AE"/>
                </a:solidFill>
              </a:rPr>
              <a:t>Patch gets dimmer when there’s less </a:t>
            </a:r>
            <a:r>
              <a:rPr lang="en-US" dirty="0" err="1">
                <a:solidFill>
                  <a:srgbClr val="7790AE"/>
                </a:solidFill>
              </a:rPr>
              <a:t>TGFbeta</a:t>
            </a:r>
            <a:r>
              <a:rPr lang="en-US" dirty="0">
                <a:solidFill>
                  <a:srgbClr val="7790AE"/>
                </a:solidFill>
              </a:rPr>
              <a:t> in it</a:t>
            </a:r>
          </a:p>
        </p:txBody>
      </p:sp>
    </p:spTree>
    <p:extLst>
      <p:ext uri="{BB962C8B-B14F-4D97-AF65-F5344CB8AC3E}">
        <p14:creationId xmlns:p14="http://schemas.microsoft.com/office/powerpoint/2010/main" val="274835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9" grpId="0" animBg="1"/>
      <p:bldP spid="43" grpId="0" animBg="1"/>
      <p:bldP spid="43" grpId="1" animBg="1"/>
      <p:bldP spid="44" grpId="0" animBg="1"/>
      <p:bldP spid="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0F74-DD14-DE3D-C411-BB8B1F0F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79722-24AB-815F-2873-D1A377F92D63}"/>
              </a:ext>
            </a:extLst>
          </p:cNvPr>
          <p:cNvGrpSpPr/>
          <p:nvPr/>
        </p:nvGrpSpPr>
        <p:grpSpPr>
          <a:xfrm>
            <a:off x="3496340" y="1063256"/>
            <a:ext cx="5128437" cy="5160335"/>
            <a:chOff x="3634564" y="1084521"/>
            <a:chExt cx="5128437" cy="5160335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A17516-27DA-0D51-448D-9114AA1D8D12}"/>
                </a:ext>
              </a:extLst>
            </p:cNvPr>
            <p:cNvSpPr/>
            <p:nvPr/>
          </p:nvSpPr>
          <p:spPr>
            <a:xfrm>
              <a:off x="3780500" y="1245260"/>
              <a:ext cx="4706471" cy="443752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7A9581-8F67-E684-DC92-7E951DEA4131}"/>
                </a:ext>
              </a:extLst>
            </p:cNvPr>
            <p:cNvCxnSpPr/>
            <p:nvPr/>
          </p:nvCxnSpPr>
          <p:spPr>
            <a:xfrm>
              <a:off x="5337544" y="1084521"/>
              <a:ext cx="0" cy="50929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C2734-3100-CFD9-9DDD-063E8879BE67}"/>
                </a:ext>
              </a:extLst>
            </p:cNvPr>
            <p:cNvCxnSpPr/>
            <p:nvPr/>
          </p:nvCxnSpPr>
          <p:spPr>
            <a:xfrm>
              <a:off x="6893442" y="1151861"/>
              <a:ext cx="0" cy="50929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E040E7A-A46D-F6B4-AA8C-E53029CFA5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81062" y="237461"/>
              <a:ext cx="0" cy="50929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773A1-62A3-F02F-EAA0-ECD8590102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16504" y="1665768"/>
              <a:ext cx="0" cy="50929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C79AE0E-A10A-A516-378A-3E4EF19FAF17}"/>
              </a:ext>
            </a:extLst>
          </p:cNvPr>
          <p:cNvSpPr/>
          <p:nvPr/>
        </p:nvSpPr>
        <p:spPr>
          <a:xfrm>
            <a:off x="5221356" y="1238399"/>
            <a:ext cx="1507436" cy="1494861"/>
          </a:xfrm>
          <a:prstGeom prst="rect">
            <a:avLst/>
          </a:prstGeom>
          <a:solidFill>
            <a:srgbClr val="83A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FC0A5-E201-FB86-1C99-6F11B7CE3BCD}"/>
              </a:ext>
            </a:extLst>
          </p:cNvPr>
          <p:cNvSpPr/>
          <p:nvPr/>
        </p:nvSpPr>
        <p:spPr>
          <a:xfrm>
            <a:off x="5208103" y="2785591"/>
            <a:ext cx="1520687" cy="1388844"/>
          </a:xfrm>
          <a:prstGeom prst="rect">
            <a:avLst/>
          </a:prstGeom>
          <a:solidFill>
            <a:srgbClr val="83A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B1405-8DDA-8AEC-AE0C-F8C282C26CF0}"/>
              </a:ext>
            </a:extLst>
          </p:cNvPr>
          <p:cNvSpPr txBox="1"/>
          <p:nvPr/>
        </p:nvSpPr>
        <p:spPr>
          <a:xfrm>
            <a:off x="659219" y="1573619"/>
            <a:ext cx="124816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6C6AE"/>
                </a:solidFill>
              </a:rPr>
              <a:t>Fibroblast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5BFAF-678C-AD7D-1B8C-38BD5D523337}"/>
              </a:ext>
            </a:extLst>
          </p:cNvPr>
          <p:cNvSpPr txBox="1"/>
          <p:nvPr/>
        </p:nvSpPr>
        <p:spPr>
          <a:xfrm>
            <a:off x="726559" y="2268279"/>
            <a:ext cx="105586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TGFbeta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F3EA66-B648-244F-1C45-2A48DEF9E94E}"/>
              </a:ext>
            </a:extLst>
          </p:cNvPr>
          <p:cNvSpPr txBox="1"/>
          <p:nvPr/>
        </p:nvSpPr>
        <p:spPr>
          <a:xfrm>
            <a:off x="378823" y="404949"/>
            <a:ext cx="11530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Fibroblasts can uptake </a:t>
            </a:r>
            <a:r>
              <a:rPr lang="en-US" dirty="0" err="1"/>
              <a:t>TGFbeta</a:t>
            </a:r>
            <a:r>
              <a:rPr lang="en-US" dirty="0"/>
              <a:t> from their local patches, which reduces the concentration of </a:t>
            </a:r>
            <a:r>
              <a:rPr lang="en-US" dirty="0" err="1"/>
              <a:t>TGFbeta</a:t>
            </a:r>
            <a:r>
              <a:rPr lang="en-US" dirty="0"/>
              <a:t> in that patch</a:t>
            </a:r>
          </a:p>
          <a:p>
            <a:r>
              <a:rPr lang="en-US" dirty="0"/>
              <a:t>and increases the concentration of </a:t>
            </a:r>
            <a:r>
              <a:rPr lang="en-US" dirty="0" err="1"/>
              <a:t>TGFbeta</a:t>
            </a:r>
            <a:r>
              <a:rPr lang="en-US" dirty="0"/>
              <a:t> in the cell.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6D8EDB-FCB0-758E-946C-F30AFCCD5FA4}"/>
              </a:ext>
            </a:extLst>
          </p:cNvPr>
          <p:cNvGrpSpPr/>
          <p:nvPr/>
        </p:nvGrpSpPr>
        <p:grpSpPr>
          <a:xfrm>
            <a:off x="5677786" y="3019646"/>
            <a:ext cx="595424" cy="925033"/>
            <a:chOff x="5677786" y="3019646"/>
            <a:chExt cx="595424" cy="925033"/>
          </a:xfrm>
        </p:grpSpPr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F1FF93B6-A956-702F-5DAE-80FF3747C55F}"/>
                </a:ext>
              </a:extLst>
            </p:cNvPr>
            <p:cNvSpPr/>
            <p:nvPr/>
          </p:nvSpPr>
          <p:spPr>
            <a:xfrm>
              <a:off x="5677786" y="3019646"/>
              <a:ext cx="595424" cy="925033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CC01C17-AD46-182E-D646-6833D2C30123}"/>
                </a:ext>
              </a:extLst>
            </p:cNvPr>
            <p:cNvSpPr/>
            <p:nvPr/>
          </p:nvSpPr>
          <p:spPr>
            <a:xfrm rot="20960561">
              <a:off x="5997704" y="3484217"/>
              <a:ext cx="87345" cy="94624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3A732-2C29-957E-8576-BA42E429C2D5}"/>
              </a:ext>
            </a:extLst>
          </p:cNvPr>
          <p:cNvGrpSpPr/>
          <p:nvPr/>
        </p:nvGrpSpPr>
        <p:grpSpPr>
          <a:xfrm>
            <a:off x="6079556" y="2025405"/>
            <a:ext cx="519216" cy="607979"/>
            <a:chOff x="6059678" y="2164552"/>
            <a:chExt cx="519216" cy="607979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F9A17FE3-9632-E1BC-4471-8144FEDF8D1E}"/>
                </a:ext>
              </a:extLst>
            </p:cNvPr>
            <p:cNvSpPr/>
            <p:nvPr/>
          </p:nvSpPr>
          <p:spPr>
            <a:xfrm rot="1148383" flipH="1">
              <a:off x="6059678" y="2207020"/>
              <a:ext cx="519216" cy="565511"/>
            </a:xfrm>
            <a:prstGeom prst="arc">
              <a:avLst>
                <a:gd name="adj1" fmla="val 17150062"/>
                <a:gd name="adj2" fmla="val 0"/>
              </a:avLst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B9EAF71-E190-1DC4-66F5-8121E3F72D7D}"/>
                </a:ext>
              </a:extLst>
            </p:cNvPr>
            <p:cNvSpPr/>
            <p:nvPr/>
          </p:nvSpPr>
          <p:spPr>
            <a:xfrm rot="20960561">
              <a:off x="6376432" y="2164552"/>
              <a:ext cx="87345" cy="94624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4AD05878-C45E-F2ED-E838-BFA4ADDFB77D}"/>
              </a:ext>
            </a:extLst>
          </p:cNvPr>
          <p:cNvSpPr/>
          <p:nvPr/>
        </p:nvSpPr>
        <p:spPr>
          <a:xfrm rot="20960561">
            <a:off x="6011996" y="2277196"/>
            <a:ext cx="87345" cy="94624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0DDE1-B966-0B50-FAF4-F4D13D17336B}"/>
              </a:ext>
            </a:extLst>
          </p:cNvPr>
          <p:cNvSpPr txBox="1"/>
          <p:nvPr/>
        </p:nvSpPr>
        <p:spPr>
          <a:xfrm>
            <a:off x="8527775" y="3011557"/>
            <a:ext cx="2276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790AE"/>
                </a:solidFill>
              </a:rPr>
              <a:t>Patch gets dimmer when there’s less </a:t>
            </a:r>
            <a:r>
              <a:rPr lang="en-US" dirty="0" err="1">
                <a:solidFill>
                  <a:srgbClr val="7790AE"/>
                </a:solidFill>
              </a:rPr>
              <a:t>TGFbeta</a:t>
            </a:r>
            <a:r>
              <a:rPr lang="en-US" dirty="0">
                <a:solidFill>
                  <a:srgbClr val="7790AE"/>
                </a:solidFill>
              </a:rPr>
              <a:t> in it</a:t>
            </a:r>
          </a:p>
        </p:txBody>
      </p:sp>
    </p:spTree>
    <p:extLst>
      <p:ext uri="{BB962C8B-B14F-4D97-AF65-F5344CB8AC3E}">
        <p14:creationId xmlns:p14="http://schemas.microsoft.com/office/powerpoint/2010/main" val="177862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111E-6 L -0.00182 -0.213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1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CE96B-A440-8773-8D48-39454EC7F9BC}"/>
              </a:ext>
            </a:extLst>
          </p:cNvPr>
          <p:cNvGrpSpPr/>
          <p:nvPr/>
        </p:nvGrpSpPr>
        <p:grpSpPr>
          <a:xfrm>
            <a:off x="3496340" y="1063256"/>
            <a:ext cx="5128437" cy="5160335"/>
            <a:chOff x="3634564" y="1084521"/>
            <a:chExt cx="5128437" cy="51603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653557-E066-914A-7C55-DC48E55E7283}"/>
                </a:ext>
              </a:extLst>
            </p:cNvPr>
            <p:cNvSpPr/>
            <p:nvPr/>
          </p:nvSpPr>
          <p:spPr>
            <a:xfrm>
              <a:off x="3780500" y="1245260"/>
              <a:ext cx="4706471" cy="44375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04D7E0-67CF-28DB-C797-455BF94035B4}"/>
                </a:ext>
              </a:extLst>
            </p:cNvPr>
            <p:cNvCxnSpPr/>
            <p:nvPr/>
          </p:nvCxnSpPr>
          <p:spPr>
            <a:xfrm>
              <a:off x="5337544" y="108452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DC6C72-D601-A701-0EF7-7C9F283A7D2A}"/>
                </a:ext>
              </a:extLst>
            </p:cNvPr>
            <p:cNvCxnSpPr/>
            <p:nvPr/>
          </p:nvCxnSpPr>
          <p:spPr>
            <a:xfrm>
              <a:off x="6893442" y="11518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8687FBC-493D-8C8E-3A64-9FA24667DB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81062" y="2374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B508E9-4047-935F-ABA3-CDBEA781C24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16504" y="1665768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087D6E3-39AC-4457-DDB2-71B93B763A75}"/>
              </a:ext>
            </a:extLst>
          </p:cNvPr>
          <p:cNvSpPr/>
          <p:nvPr/>
        </p:nvSpPr>
        <p:spPr>
          <a:xfrm>
            <a:off x="5212862" y="2782278"/>
            <a:ext cx="1524000" cy="1402162"/>
          </a:xfrm>
          <a:prstGeom prst="rect">
            <a:avLst/>
          </a:prstGeom>
          <a:solidFill>
            <a:srgbClr val="DEC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A7B29E91-57EA-3375-0BE7-6A769CD929A5}"/>
              </a:ext>
            </a:extLst>
          </p:cNvPr>
          <p:cNvSpPr/>
          <p:nvPr/>
        </p:nvSpPr>
        <p:spPr>
          <a:xfrm>
            <a:off x="5677786" y="3019646"/>
            <a:ext cx="595424" cy="925033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C25F64-0C04-6132-4771-F8CB7C4A6005}"/>
              </a:ext>
            </a:extLst>
          </p:cNvPr>
          <p:cNvSpPr txBox="1"/>
          <p:nvPr/>
        </p:nvSpPr>
        <p:spPr>
          <a:xfrm>
            <a:off x="659219" y="1573619"/>
            <a:ext cx="124816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6C6AE"/>
                </a:solidFill>
              </a:rPr>
              <a:t>Fibroblast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C0C0B-22C0-4809-D11A-F7D4FEBB0918}"/>
              </a:ext>
            </a:extLst>
          </p:cNvPr>
          <p:cNvSpPr txBox="1"/>
          <p:nvPr/>
        </p:nvSpPr>
        <p:spPr>
          <a:xfrm>
            <a:off x="726559" y="2268279"/>
            <a:ext cx="112280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ECEEF"/>
                </a:solidFill>
              </a:rPr>
              <a:t>Collagen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89739A-4BC7-7F44-D571-AD1BB5CDA7D9}"/>
              </a:ext>
            </a:extLst>
          </p:cNvPr>
          <p:cNvSpPr/>
          <p:nvPr/>
        </p:nvSpPr>
        <p:spPr>
          <a:xfrm rot="20960561">
            <a:off x="5790774" y="3577350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156664B-41BF-200F-57BC-8E1424796F1D}"/>
              </a:ext>
            </a:extLst>
          </p:cNvPr>
          <p:cNvSpPr/>
          <p:nvPr/>
        </p:nvSpPr>
        <p:spPr>
          <a:xfrm rot="20960561">
            <a:off x="5912597" y="3660586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02F71B-0643-8F6A-38D6-704CAFD28D6C}"/>
              </a:ext>
            </a:extLst>
          </p:cNvPr>
          <p:cNvSpPr/>
          <p:nvPr/>
        </p:nvSpPr>
        <p:spPr>
          <a:xfrm rot="20960561">
            <a:off x="6034421" y="3743821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F8A149-4084-A23A-784C-5F9D1FDECA62}"/>
              </a:ext>
            </a:extLst>
          </p:cNvPr>
          <p:cNvSpPr/>
          <p:nvPr/>
        </p:nvSpPr>
        <p:spPr>
          <a:xfrm rot="20960561">
            <a:off x="6028675" y="3621459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0DC999-C1FD-24DB-2F99-0103488D033D}"/>
              </a:ext>
            </a:extLst>
          </p:cNvPr>
          <p:cNvSpPr/>
          <p:nvPr/>
        </p:nvSpPr>
        <p:spPr>
          <a:xfrm rot="20960561">
            <a:off x="5921018" y="3547901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755320-5636-B4FF-1B65-B42948FFC14E}"/>
              </a:ext>
            </a:extLst>
          </p:cNvPr>
          <p:cNvSpPr/>
          <p:nvPr/>
        </p:nvSpPr>
        <p:spPr>
          <a:xfrm rot="20960561">
            <a:off x="6040069" y="3498339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93745D-20AC-534E-CA4E-6E36110E9509}"/>
              </a:ext>
            </a:extLst>
          </p:cNvPr>
          <p:cNvSpPr/>
          <p:nvPr/>
        </p:nvSpPr>
        <p:spPr>
          <a:xfrm rot="20960561">
            <a:off x="5929812" y="3778318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86DA39-AB79-242F-AB44-6C6825593FFA}"/>
              </a:ext>
            </a:extLst>
          </p:cNvPr>
          <p:cNvSpPr/>
          <p:nvPr/>
        </p:nvSpPr>
        <p:spPr>
          <a:xfrm rot="20960561">
            <a:off x="5803668" y="3698362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837B2-475B-37C2-B414-4373AE88AFCE}"/>
              </a:ext>
            </a:extLst>
          </p:cNvPr>
          <p:cNvSpPr/>
          <p:nvPr/>
        </p:nvSpPr>
        <p:spPr>
          <a:xfrm rot="20960561">
            <a:off x="5823577" y="3830403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F88FC7A-FA15-458C-71BA-FD6EC40EB903}"/>
              </a:ext>
            </a:extLst>
          </p:cNvPr>
          <p:cNvSpPr/>
          <p:nvPr/>
        </p:nvSpPr>
        <p:spPr>
          <a:xfrm rot="17500729">
            <a:off x="6035090" y="3279063"/>
            <a:ext cx="595423" cy="574158"/>
          </a:xfrm>
          <a:prstGeom prst="arc">
            <a:avLst/>
          </a:prstGeom>
          <a:ln w="44450">
            <a:solidFill>
              <a:srgbClr val="9542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7F87D7-3F28-BB50-B42B-989BDA2696E0}"/>
              </a:ext>
            </a:extLst>
          </p:cNvPr>
          <p:cNvSpPr/>
          <p:nvPr/>
        </p:nvSpPr>
        <p:spPr>
          <a:xfrm rot="20960561">
            <a:off x="6446006" y="3287672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C954AA-A565-EAF8-F05B-8CFA352947E2}"/>
              </a:ext>
            </a:extLst>
          </p:cNvPr>
          <p:cNvSpPr txBox="1"/>
          <p:nvPr/>
        </p:nvSpPr>
        <p:spPr>
          <a:xfrm>
            <a:off x="378823" y="404949"/>
            <a:ext cx="1156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Fibroblasts can deposit collagen into their local patches, which changes the concentration of collagen in that patch.</a:t>
            </a:r>
          </a:p>
        </p:txBody>
      </p:sp>
    </p:spTree>
    <p:extLst>
      <p:ext uri="{BB962C8B-B14F-4D97-AF65-F5344CB8AC3E}">
        <p14:creationId xmlns:p14="http://schemas.microsoft.com/office/powerpoint/2010/main" val="246569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1" grpId="0" animBg="1"/>
      <p:bldP spid="27" grpId="0" animBg="1"/>
      <p:bldP spid="27" grpId="1" animBg="1"/>
      <p:bldP spid="28" grpId="0" animBg="1"/>
      <p:bldP spid="2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FBD0-6E3B-B37B-8DED-442352D9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350E70-C605-8CC3-0F25-DC88D9981F12}"/>
              </a:ext>
            </a:extLst>
          </p:cNvPr>
          <p:cNvGrpSpPr/>
          <p:nvPr/>
        </p:nvGrpSpPr>
        <p:grpSpPr>
          <a:xfrm>
            <a:off x="3496340" y="1063256"/>
            <a:ext cx="5128437" cy="5160335"/>
            <a:chOff x="3634564" y="1084521"/>
            <a:chExt cx="5128437" cy="51603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AA4437-BCBE-133F-8BC7-CBE2B048C0A0}"/>
                </a:ext>
              </a:extLst>
            </p:cNvPr>
            <p:cNvSpPr/>
            <p:nvPr/>
          </p:nvSpPr>
          <p:spPr>
            <a:xfrm>
              <a:off x="3780500" y="1245260"/>
              <a:ext cx="4706471" cy="443752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17F13FA-4E68-512C-E132-C41AE14A9B52}"/>
                </a:ext>
              </a:extLst>
            </p:cNvPr>
            <p:cNvCxnSpPr/>
            <p:nvPr/>
          </p:nvCxnSpPr>
          <p:spPr>
            <a:xfrm>
              <a:off x="5337544" y="108452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F9339B-A726-AEB8-FAF2-A04951CD2D96}"/>
                </a:ext>
              </a:extLst>
            </p:cNvPr>
            <p:cNvCxnSpPr/>
            <p:nvPr/>
          </p:nvCxnSpPr>
          <p:spPr>
            <a:xfrm>
              <a:off x="6893442" y="11518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6A5FC2-189C-3F49-EFF6-89D0B2AEE2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81062" y="237461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34ED4D9-2415-41E6-6161-10899B14BA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16504" y="1665768"/>
              <a:ext cx="0" cy="509299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33F5F58-DD4D-6661-A507-A903659C7A27}"/>
              </a:ext>
            </a:extLst>
          </p:cNvPr>
          <p:cNvSpPr/>
          <p:nvPr/>
        </p:nvSpPr>
        <p:spPr>
          <a:xfrm>
            <a:off x="5208009" y="2783248"/>
            <a:ext cx="1524000" cy="1410179"/>
          </a:xfrm>
          <a:prstGeom prst="rect">
            <a:avLst/>
          </a:prstGeom>
          <a:solidFill>
            <a:srgbClr val="DEC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5EC707-5CB9-E062-88AA-59696185FA59}"/>
              </a:ext>
            </a:extLst>
          </p:cNvPr>
          <p:cNvSpPr/>
          <p:nvPr/>
        </p:nvSpPr>
        <p:spPr>
          <a:xfrm>
            <a:off x="5207038" y="1209742"/>
            <a:ext cx="1524000" cy="1545105"/>
          </a:xfrm>
          <a:prstGeom prst="rect">
            <a:avLst/>
          </a:prstGeom>
          <a:solidFill>
            <a:srgbClr val="DEC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93C417-45C2-912F-B228-F47E5E4CDABE}"/>
              </a:ext>
            </a:extLst>
          </p:cNvPr>
          <p:cNvGrpSpPr/>
          <p:nvPr/>
        </p:nvGrpSpPr>
        <p:grpSpPr>
          <a:xfrm>
            <a:off x="5677786" y="3019646"/>
            <a:ext cx="595424" cy="925033"/>
            <a:chOff x="5677786" y="3019646"/>
            <a:chExt cx="595424" cy="925033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2FCCB31F-1698-8F3B-9914-91293897ABFD}"/>
                </a:ext>
              </a:extLst>
            </p:cNvPr>
            <p:cNvSpPr/>
            <p:nvPr/>
          </p:nvSpPr>
          <p:spPr>
            <a:xfrm>
              <a:off x="5677786" y="3019646"/>
              <a:ext cx="595424" cy="925033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9864D86-F24A-DB1B-6D04-6C412B6B6A73}"/>
                </a:ext>
              </a:extLst>
            </p:cNvPr>
            <p:cNvSpPr/>
            <p:nvPr/>
          </p:nvSpPr>
          <p:spPr>
            <a:xfrm rot="20960561">
              <a:off x="5790774" y="3577350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3180D3-D2B1-0FCF-3476-9B7D0E81D75B}"/>
                </a:ext>
              </a:extLst>
            </p:cNvPr>
            <p:cNvSpPr/>
            <p:nvPr/>
          </p:nvSpPr>
          <p:spPr>
            <a:xfrm rot="20960561">
              <a:off x="5912597" y="3660586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E9F6B7E-F9F5-7801-B3A0-56CAB6E09913}"/>
                </a:ext>
              </a:extLst>
            </p:cNvPr>
            <p:cNvSpPr/>
            <p:nvPr/>
          </p:nvSpPr>
          <p:spPr>
            <a:xfrm rot="20960561">
              <a:off x="6034421" y="3743821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00710AD-659B-4E71-BA18-4DE234725852}"/>
                </a:ext>
              </a:extLst>
            </p:cNvPr>
            <p:cNvSpPr/>
            <p:nvPr/>
          </p:nvSpPr>
          <p:spPr>
            <a:xfrm rot="20960561">
              <a:off x="6028675" y="3621459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3A9E00-1D6D-8A96-A5E0-3F0903184D2A}"/>
                </a:ext>
              </a:extLst>
            </p:cNvPr>
            <p:cNvSpPr/>
            <p:nvPr/>
          </p:nvSpPr>
          <p:spPr>
            <a:xfrm rot="20960561">
              <a:off x="5921018" y="3547901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7E64EF8-3F6E-40FF-763B-D14675B07C90}"/>
                </a:ext>
              </a:extLst>
            </p:cNvPr>
            <p:cNvSpPr/>
            <p:nvPr/>
          </p:nvSpPr>
          <p:spPr>
            <a:xfrm rot="20960561">
              <a:off x="5929812" y="3778318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15BB07-4ECB-F7D3-823D-0F4D83A739A3}"/>
                </a:ext>
              </a:extLst>
            </p:cNvPr>
            <p:cNvSpPr/>
            <p:nvPr/>
          </p:nvSpPr>
          <p:spPr>
            <a:xfrm rot="20960561">
              <a:off x="5803668" y="3698362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F5B4732-F261-0CAE-564B-B0EFB6746A00}"/>
                </a:ext>
              </a:extLst>
            </p:cNvPr>
            <p:cNvSpPr/>
            <p:nvPr/>
          </p:nvSpPr>
          <p:spPr>
            <a:xfrm rot="20960561">
              <a:off x="5823577" y="3830403"/>
              <a:ext cx="87345" cy="94624"/>
            </a:xfrm>
            <a:prstGeom prst="ellipse">
              <a:avLst/>
            </a:prstGeom>
            <a:solidFill>
              <a:srgbClr val="DECEEF"/>
            </a:solidFill>
            <a:ln>
              <a:solidFill>
                <a:srgbClr val="9542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Arc 26">
            <a:extLst>
              <a:ext uri="{FF2B5EF4-FFF2-40B4-BE49-F238E27FC236}">
                <a16:creationId xmlns:a16="http://schemas.microsoft.com/office/drawing/2014/main" id="{7B2BC452-18AF-E975-4651-75849D9A4999}"/>
              </a:ext>
            </a:extLst>
          </p:cNvPr>
          <p:cNvSpPr/>
          <p:nvPr/>
        </p:nvSpPr>
        <p:spPr>
          <a:xfrm rot="17500729">
            <a:off x="5982672" y="1805538"/>
            <a:ext cx="595423" cy="574158"/>
          </a:xfrm>
          <a:prstGeom prst="arc">
            <a:avLst/>
          </a:prstGeom>
          <a:ln w="44450">
            <a:solidFill>
              <a:srgbClr val="9542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132315-7E97-29E7-3936-60CDCEBB5FEE}"/>
              </a:ext>
            </a:extLst>
          </p:cNvPr>
          <p:cNvSpPr/>
          <p:nvPr/>
        </p:nvSpPr>
        <p:spPr>
          <a:xfrm rot="20960561">
            <a:off x="6393588" y="1814147"/>
            <a:ext cx="87345" cy="94624"/>
          </a:xfrm>
          <a:prstGeom prst="ellipse">
            <a:avLst/>
          </a:prstGeom>
          <a:solidFill>
            <a:srgbClr val="DECEEF"/>
          </a:solidFill>
          <a:ln>
            <a:solidFill>
              <a:srgbClr val="954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13547-9EAA-B9AB-FDF2-B4924DFBA03A}"/>
              </a:ext>
            </a:extLst>
          </p:cNvPr>
          <p:cNvSpPr/>
          <p:nvPr/>
        </p:nvSpPr>
        <p:spPr>
          <a:xfrm>
            <a:off x="5888272" y="1980230"/>
            <a:ext cx="128132" cy="139781"/>
          </a:xfrm>
          <a:prstGeom prst="rect">
            <a:avLst/>
          </a:prstGeom>
          <a:solidFill>
            <a:srgbClr val="F6C6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C7012-A4BF-9F68-446B-C889573B292B}"/>
              </a:ext>
            </a:extLst>
          </p:cNvPr>
          <p:cNvSpPr txBox="1"/>
          <p:nvPr/>
        </p:nvSpPr>
        <p:spPr>
          <a:xfrm>
            <a:off x="659219" y="1573619"/>
            <a:ext cx="124816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6C6AE"/>
                </a:solidFill>
              </a:rPr>
              <a:t>Fibroblast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23E99-7767-64EF-FD8D-21D28867AFA4}"/>
              </a:ext>
            </a:extLst>
          </p:cNvPr>
          <p:cNvSpPr txBox="1"/>
          <p:nvPr/>
        </p:nvSpPr>
        <p:spPr>
          <a:xfrm>
            <a:off x="726559" y="2268279"/>
            <a:ext cx="112280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ECEEF"/>
                </a:solidFill>
              </a:rPr>
              <a:t>Collagen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2CBAD7-661A-944D-EAF3-50BE4FE0FB0E}"/>
              </a:ext>
            </a:extLst>
          </p:cNvPr>
          <p:cNvSpPr txBox="1"/>
          <p:nvPr/>
        </p:nvSpPr>
        <p:spPr>
          <a:xfrm>
            <a:off x="378823" y="404949"/>
            <a:ext cx="1156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Fibroblasts can deposit collagen into their local patches, which changes the concentration of collagen in that patch.</a:t>
            </a:r>
          </a:p>
        </p:txBody>
      </p:sp>
    </p:spTree>
    <p:extLst>
      <p:ext uri="{BB962C8B-B14F-4D97-AF65-F5344CB8AC3E}">
        <p14:creationId xmlns:p14="http://schemas.microsoft.com/office/powerpoint/2010/main" val="272341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0092 L -4.16667E-6 -0.223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7" grpId="0" animBg="1"/>
      <p:bldP spid="27" grpId="1" animBg="1"/>
      <p:bldP spid="28" grpId="0" animBg="1"/>
      <p:bldP spid="28" grpId="1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120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Peirce-Cottler, Shayn (smp6p)</dc:creator>
  <cp:lastModifiedBy>Peirce-Cottler, Shayn (smp6p)</cp:lastModifiedBy>
  <cp:revision>16</cp:revision>
  <dcterms:created xsi:type="dcterms:W3CDTF">2025-01-19T20:48:47Z</dcterms:created>
  <dcterms:modified xsi:type="dcterms:W3CDTF">2025-01-19T21:32:55Z</dcterms:modified>
</cp:coreProperties>
</file>